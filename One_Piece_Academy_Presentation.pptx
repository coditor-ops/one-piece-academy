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00"/>
              </a:lnSpc>
              <a:defRPr sz="4800" b="0">
                <a:solidFill>
                  <a:srgbClr val="FFFFFF"/>
                </a:solidFill>
                <a:latin typeface="Segoe UI"/>
              </a:defRPr>
            </a:pPr>
            <a:r>
              <a:t>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00"/>
              </a:lnSpc>
              <a:defRPr sz="5200" b="1">
                <a:solidFill>
                  <a:srgbClr val="FFD700"/>
                </a:solidFill>
                <a:latin typeface="Segoe UI Semibold"/>
              </a:defRPr>
            </a:pPr>
            <a:r>
              <a:t>One Piece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800" b="0">
                <a:solidFill>
                  <a:srgbClr val="FFFFFF"/>
                </a:solidFill>
                <a:latin typeface="Segoe UI"/>
              </a:defRPr>
            </a:pPr>
            <a:r>
              <a:t>Sabaody Skill Exchange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840480"/>
            <a:ext cx="210312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CCCCCC"/>
                </a:solidFill>
                <a:latin typeface="Segoe UI"/>
              </a:defRPr>
            </a:pPr>
            <a:r>
              <a:t>A Peer-to-Peer Skill Marketplace with Live, Demand-Based Pricing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0">
                <a:solidFill>
                  <a:srgbClr val="AAAAAA"/>
                </a:solidFill>
                <a:latin typeface="Segoe UI"/>
              </a:defRPr>
            </a:pPr>
            <a:r>
              <a:t>PS-05  ·  Hackathon MVP  ·  React + Express + MongoDB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6803136"/>
            <a:ext cx="12191695" cy="54864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defRPr sz="1100" b="0">
                <a:solidFill>
                  <a:srgbClr val="AAAAAA"/>
                </a:solidFill>
                <a:latin typeface="Segoe UI"/>
              </a:defRPr>
            </a:pPr>
            <a: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6576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00"/>
              </a:lnSpc>
              <a:defRPr sz="3400" b="1">
                <a:solidFill>
                  <a:srgbClr val="FFD700"/>
                </a:solidFill>
                <a:latin typeface="Segoe UI Semibold"/>
              </a:defRPr>
            </a:pPr>
            <a:r>
              <a:t>Problem  &amp; 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4572000"/>
          </a:xfrm>
          <a:prstGeom prst="roundRect">
            <a:avLst>
              <a:gd name="adj" fmla="val 5000"/>
            </a:avLst>
          </a:prstGeom>
          <a:solidFill>
            <a:srgbClr val="12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FF6B6B"/>
                </a:solidFill>
                <a:latin typeface="Segoe UI"/>
              </a:defRPr>
            </a:pPr>
            <a:r>
              <a:t>✕ 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Existing skill platforms use static, creator-set pricing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9572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that ignores real market demand.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8833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005840" y="298094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Scarce, high-value skills are often underpriced,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7355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while oversupplied skills stay overpriced.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661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005840" y="385876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No trust mechanism — learners risk paying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15137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without guaranteed session delivery.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4398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1005840" y="473659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Flat pricing kills incentive for teachers to offer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0292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rare, in-demand skills.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371600"/>
            <a:ext cx="5029200" cy="4572000"/>
          </a:xfrm>
          <a:prstGeom prst="roundRect">
            <a:avLst>
              <a:gd name="adj" fmla="val 5000"/>
            </a:avLst>
          </a:prstGeom>
          <a:solidFill>
            <a:srgbClr val="12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6002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2ECCB5"/>
                </a:solidFill>
                <a:latin typeface="Segoe UI"/>
              </a:defRPr>
            </a:pPr>
            <a:r>
              <a:t>✓  OUR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1031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A self-regulating skill economy where prices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9572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adjust automatically via supply &amp; demand.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68833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675120" y="298094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Logarithmic pricing algorithm with exponential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27355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smoothing for realistic, stable price curves.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5661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675120" y="385876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Token escrow system locks payment until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15137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session completion — trustless transactions.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44398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675120" y="473659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Gamified One Piece theme makes complex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0292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economics intuitive and engaging.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defRPr sz="1100" b="0">
                <a:solidFill>
                  <a:srgbClr val="AAAAAA"/>
                </a:solidFill>
                <a:latin typeface="Segoe UI"/>
              </a:defRPr>
            </a:pPr>
            <a: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6576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00"/>
              </a:lnSpc>
              <a:defRPr sz="3400" b="1">
                <a:solidFill>
                  <a:srgbClr val="FFD700"/>
                </a:solidFill>
                <a:latin typeface="Segoe UI Semibold"/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12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700" b="1">
                <a:solidFill>
                  <a:srgbClr val="4E9AF5"/>
                </a:solidFill>
                <a:latin typeface="Segoe UI Semibold"/>
              </a:defRPr>
            </a:pPr>
            <a:r>
              <a:t>Dynamic Pricing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CCCCCC"/>
                </a:solidFill>
                <a:latin typeface="Segoe UI"/>
              </a:defRPr>
            </a:pPr>
            <a:r>
              <a:t>Live supply-demand algorithm</a:t>
            </a:r>
          </a:p>
          <a:p>
            <a:pPr>
              <a:lnSpc>
                <a:spcPts val="1900"/>
              </a:lnSpc>
              <a:defRPr sz="1300">
                <a:solidFill>
                  <a:srgbClr val="CCCCCC"/>
                </a:solidFill>
                <a:latin typeface="Segoe UI"/>
              </a:defRPr>
            </a:pPr>
            <a:r>
              <a:t>adjusts skill prices in real-time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37160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12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011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700" b="1">
                <a:solidFill>
                  <a:srgbClr val="2ECCB5"/>
                </a:solidFill>
                <a:latin typeface="Segoe UI Semibold"/>
              </a:defRPr>
            </a:pPr>
            <a:r>
              <a:t>Token Escrow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4231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CCCCCC"/>
                </a:solidFill>
                <a:latin typeface="Segoe UI"/>
              </a:defRPr>
            </a:pPr>
            <a:r>
              <a:t>VCT locked by "Marine HQ" until</a:t>
            </a:r>
          </a:p>
          <a:p>
            <a:pPr>
              <a:lnSpc>
                <a:spcPts val="1900"/>
              </a:lnSpc>
              <a:defRPr sz="1300">
                <a:solidFill>
                  <a:srgbClr val="CCCCCC"/>
                </a:solidFill>
                <a:latin typeface="Segoe UI"/>
              </a:defRPr>
            </a:pPr>
            <a:r>
              <a:t>session completion or refund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9" y="137160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12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19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2011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700" b="1">
                <a:solidFill>
                  <a:srgbClr val="FF6B6B"/>
                </a:solidFill>
                <a:latin typeface="Segoe UI Semibold"/>
              </a:defRPr>
            </a:pPr>
            <a:r>
              <a:t>Pirate Rush Simulator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24231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CCCCCC"/>
                </a:solidFill>
                <a:latin typeface="Segoe UI"/>
              </a:defRPr>
            </a:pPr>
            <a:r>
              <a:t>Inject artificial demand surges</a:t>
            </a:r>
          </a:p>
          <a:p>
            <a:pPr>
              <a:lnSpc>
                <a:spcPts val="1900"/>
              </a:lnSpc>
              <a:defRPr sz="1300">
                <a:solidFill>
                  <a:srgbClr val="CCCCCC"/>
                </a:solidFill>
                <a:latin typeface="Segoe UI"/>
              </a:defRPr>
            </a:pPr>
            <a:r>
              <a:t>and watch prices spike live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12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800" b="0">
                <a:solidFill>
                  <a:srgbClr val="FFFFFF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80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700" b="1">
                <a:solidFill>
                  <a:srgbClr val="A57EDE"/>
                </a:solidFill>
                <a:latin typeface="Segoe UI Semibold"/>
              </a:defRPr>
            </a:pPr>
            <a:r>
              <a:t>JWT Authentication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920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CCCCCC"/>
                </a:solidFill>
                <a:latin typeface="Segoe UI"/>
              </a:defRPr>
            </a:pPr>
            <a:r>
              <a:t>Secure login with hashed</a:t>
            </a:r>
          </a:p>
          <a:p>
            <a:pPr>
              <a:lnSpc>
                <a:spcPts val="1900"/>
              </a:lnSpc>
              <a:defRPr sz="1300">
                <a:solidFill>
                  <a:srgbClr val="CCCCCC"/>
                </a:solidFill>
                <a:latin typeface="Segoe UI"/>
              </a:defRPr>
            </a:pPr>
            <a:r>
              <a:t>passwords and token auth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84048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12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79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🏴‍☠️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4480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700" b="1">
                <a:solidFill>
                  <a:srgbClr val="FFD700"/>
                </a:solidFill>
                <a:latin typeface="Segoe UI Semibold"/>
              </a:defRPr>
            </a:pPr>
            <a:r>
              <a:t>Tier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48920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CCCCCC"/>
                </a:solidFill>
                <a:latin typeface="Segoe UI"/>
              </a:defRPr>
            </a:pPr>
            <a:r>
              <a:t>Rookie → Supernova → Warlord → Yonko</a:t>
            </a:r>
          </a:p>
          <a:p>
            <a:pPr>
              <a:lnSpc>
                <a:spcPts val="1900"/>
              </a:lnSpc>
              <a:defRPr sz="1300">
                <a:solidFill>
                  <a:srgbClr val="CCCCCC"/>
                </a:solidFill>
                <a:latin typeface="Segoe UI"/>
              </a:defRPr>
            </a:pPr>
            <a:r>
              <a:t>based on sessions &amp; ratings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599" y="384048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12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19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9" y="4480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700" b="1">
                <a:solidFill>
                  <a:srgbClr val="4E9AF5"/>
                </a:solidFill>
                <a:latin typeface="Segoe UI Semibold"/>
              </a:defRPr>
            </a:pPr>
            <a:r>
              <a:t>Fleet Admin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9" y="48920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CCCCCC"/>
                </a:solidFill>
                <a:latin typeface="Segoe UI"/>
              </a:defRPr>
            </a:pPr>
            <a:r>
              <a:t>Manage sessions, incoming</a:t>
            </a:r>
          </a:p>
          <a:p>
            <a:pPr>
              <a:lnSpc>
                <a:spcPts val="1900"/>
              </a:lnSpc>
              <a:defRPr sz="1300">
                <a:solidFill>
                  <a:srgbClr val="CCCCCC"/>
                </a:solidFill>
                <a:latin typeface="Segoe UI"/>
              </a:defRPr>
            </a:pPr>
            <a:r>
              <a:t>requests, and wallet in one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defRPr sz="1100" b="0">
                <a:solidFill>
                  <a:srgbClr val="AAAAAA"/>
                </a:solidFill>
                <a:latin typeface="Segoe UI"/>
              </a:defRPr>
            </a:pPr>
            <a: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6576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00"/>
              </a:lnSpc>
              <a:defRPr sz="3400" b="1">
                <a:solidFill>
                  <a:srgbClr val="FFD700"/>
                </a:solidFill>
                <a:latin typeface="Segoe UI Semibold"/>
              </a:defRPr>
            </a:pPr>
            <a:r>
              <a:t>Architecture  &amp;  USP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4846320"/>
          </a:xfrm>
          <a:prstGeom prst="roundRect">
            <a:avLst>
              <a:gd name="adj" fmla="val 5000"/>
            </a:avLst>
          </a:prstGeom>
          <a:solidFill>
            <a:srgbClr val="12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4E9AF5"/>
                </a:solidFill>
                <a:latin typeface="Segoe UI"/>
              </a:defRPr>
            </a:pPr>
            <a:r>
              <a:t>⚙  TECH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" y="239572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Frontend:   React · Vite · Tailwind CSS · Framer Motion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8833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Backend:    Node.js · Express · Prisma 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8094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Database:   MongoDB Atlas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7355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Auth:          JWT + bcrypt password hashing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661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State:         React Query (TanStack Query)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5876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Routing:     React Router v6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15137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005840" y="444398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PRICING ALGORITHM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3659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────────────────────────────────────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0292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pressure  = demand / max(supply, 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2180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raw       = 1 + k · ln(1 + pressure)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61441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target    = clamp(raw, minMult, maxMult)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90702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multiplier = (1−α)·prev + α·target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619963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price     = round(basePrice × multiplier)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371600"/>
            <a:ext cx="5029200" cy="4846320"/>
          </a:xfrm>
          <a:prstGeom prst="roundRect">
            <a:avLst>
              <a:gd name="adj" fmla="val 5000"/>
            </a:avLst>
          </a:prstGeom>
          <a:solidFill>
            <a:srgbClr val="12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6002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2ECCB5"/>
                </a:solidFill>
                <a:latin typeface="Segoe UI"/>
              </a:defRPr>
            </a:pPr>
            <a:r>
              <a:t>★  UNIQUE SELLING PROPOSITION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1031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675120" y="239572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✦  Self-regulating economy — no manual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68833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   price setting by platform or teachers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98094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6675120" y="327355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✦  Logarithmic pricing with exponential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5661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   smoothing prevents price manipulation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85876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675120" y="415137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✦  Trustless escrow — tokens locked until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44398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   session completion, 5% burn for stability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73659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✦  Live Pirate Rush simulator makes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32180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   economic dynamics tangible &amp; demo-ready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561441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6675120" y="590702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✦  Gamified theming turns a utilitarian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619963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CCCCCC"/>
                </a:solidFill>
                <a:latin typeface="Segoe UI"/>
              </a:defRPr>
            </a:pPr>
            <a:r>
              <a:t>   marketplace into an engaging experience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defRPr sz="1100" b="0">
                <a:solidFill>
                  <a:srgbClr val="AAAAAA"/>
                </a:solidFill>
                <a:latin typeface="Segoe UI"/>
              </a:defRPr>
            </a:pPr>
            <a: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6576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00"/>
              </a:lnSpc>
              <a:defRPr sz="3400" b="1">
                <a:solidFill>
                  <a:srgbClr val="FFD700"/>
                </a:solidFill>
                <a:latin typeface="Segoe UI Semibold"/>
              </a:defRPr>
            </a:pPr>
            <a:r>
              <a:t>Demo  &amp; 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51760" cy="2926080"/>
          </a:xfrm>
          <a:prstGeom prst="roundRect">
            <a:avLst>
              <a:gd name="adj" fmla="val 4000"/>
            </a:avLst>
          </a:prstGeom>
          <a:solidFill>
            <a:srgbClr val="12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08760" y="1554480"/>
            <a:ext cx="548640" cy="548640"/>
          </a:xfrm>
          <a:prstGeom prst="ellipse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5727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1">
                <a:solidFill>
                  <a:srgbClr val="4E9AF5"/>
                </a:solidFill>
                <a:latin typeface="Segoe UI Semibold"/>
              </a:defRPr>
            </a:pPr>
            <a:r>
              <a:t>BROWSE MARKETPLACE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200">
                <a:solidFill>
                  <a:srgbClr val="CCCCCC"/>
                </a:solidFill>
                <a:latin typeface="Segoe UI"/>
              </a:defRPr>
            </a:pPr>
            <a:r>
              <a:t>Explore skills with live prices,</a:t>
            </a:r>
          </a:p>
          <a:p>
            <a:pPr algn="ctr">
              <a:lnSpc>
                <a:spcPts val="1800"/>
              </a:lnSpc>
              <a:defRPr sz="1200">
                <a:solidFill>
                  <a:srgbClr val="CCCCCC"/>
                </a:solidFill>
                <a:latin typeface="Segoe UI"/>
              </a:defRPr>
            </a:pPr>
            <a:r>
              <a:t>supply/demand indicators,</a:t>
            </a:r>
          </a:p>
          <a:p>
            <a:pPr algn="ctr">
              <a:lnSpc>
                <a:spcPts val="1800"/>
              </a:lnSpc>
              <a:defRPr sz="1200">
                <a:solidFill>
                  <a:srgbClr val="CCCCCC"/>
                </a:solidFill>
                <a:latin typeface="Segoe UI"/>
              </a:defRPr>
            </a:pPr>
            <a:r>
              <a:t>and provider tier badges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371600"/>
            <a:ext cx="2651760" cy="2926080"/>
          </a:xfrm>
          <a:prstGeom prst="roundRect">
            <a:avLst>
              <a:gd name="adj" fmla="val 4000"/>
            </a:avLst>
          </a:prstGeom>
          <a:solidFill>
            <a:srgbClr val="12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89120" y="1554480"/>
            <a:ext cx="548640" cy="548640"/>
          </a:xfrm>
          <a:prstGeom prst="ellipse">
            <a:avLst/>
          </a:prstGeom>
          <a:solidFill>
            <a:srgbClr val="2EC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5727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defRPr sz="2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1">
                <a:solidFill>
                  <a:srgbClr val="2ECCB5"/>
                </a:solidFill>
                <a:latin typeface="Segoe UI Semibold"/>
              </a:defRPr>
            </a:pPr>
            <a:r>
              <a:t>BOOK A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6974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200">
                <a:solidFill>
                  <a:srgbClr val="CCCCCC"/>
                </a:solidFill>
                <a:latin typeface="Segoe UI"/>
              </a:defRPr>
            </a:pPr>
            <a:r>
              <a:t>Select time slots, pay with VCT.</a:t>
            </a:r>
          </a:p>
          <a:p>
            <a:pPr algn="ctr">
              <a:lnSpc>
                <a:spcPts val="1800"/>
              </a:lnSpc>
              <a:defRPr sz="1200">
                <a:solidFill>
                  <a:srgbClr val="CCCCCC"/>
                </a:solidFill>
                <a:latin typeface="Segoe UI"/>
              </a:defRPr>
            </a:pPr>
            <a:r>
              <a:t>Tokens auto-locked in escrow</a:t>
            </a:r>
          </a:p>
          <a:p>
            <a:pPr algn="ctr">
              <a:lnSpc>
                <a:spcPts val="1800"/>
              </a:lnSpc>
              <a:defRPr sz="1200">
                <a:solidFill>
                  <a:srgbClr val="CCCCCC"/>
                </a:solidFill>
                <a:latin typeface="Segoe UI"/>
              </a:defRPr>
            </a:pPr>
            <a:r>
              <a:t>by "Marine HQ"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71600"/>
            <a:ext cx="2651760" cy="2926080"/>
          </a:xfrm>
          <a:prstGeom prst="roundRect">
            <a:avLst>
              <a:gd name="adj" fmla="val 4000"/>
            </a:avLst>
          </a:prstGeom>
          <a:solidFill>
            <a:srgbClr val="12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69480" y="1554480"/>
            <a:ext cx="548640" cy="5486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15727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defRPr sz="2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1">
                <a:solidFill>
                  <a:srgbClr val="FF6B6B"/>
                </a:solidFill>
                <a:latin typeface="Segoe UI Semibold"/>
              </a:defRPr>
            </a:pPr>
            <a:r>
              <a:t>PIRATE RUSH!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6974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200">
                <a:solidFill>
                  <a:srgbClr val="CCCCCC"/>
                </a:solidFill>
                <a:latin typeface="Segoe UI"/>
              </a:defRPr>
            </a:pPr>
            <a:r>
              <a:t>Simulate demand surge —</a:t>
            </a:r>
          </a:p>
          <a:p>
            <a:pPr algn="ctr">
              <a:lnSpc>
                <a:spcPts val="1800"/>
              </a:lnSpc>
              <a:defRPr sz="1200">
                <a:solidFill>
                  <a:srgbClr val="CCCCCC"/>
                </a:solidFill>
                <a:latin typeface="Segoe UI"/>
              </a:defRPr>
            </a:pPr>
            <a:r>
              <a:t>watch prices spike in real-time</a:t>
            </a:r>
          </a:p>
          <a:p>
            <a:pPr algn="ctr">
              <a:lnSpc>
                <a:spcPts val="1800"/>
              </a:lnSpc>
              <a:defRPr sz="1200">
                <a:solidFill>
                  <a:srgbClr val="CCCCCC"/>
                </a:solidFill>
                <a:latin typeface="Segoe UI"/>
              </a:defRPr>
            </a:pPr>
            <a:r>
              <a:t>on the market dashboard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371600"/>
            <a:ext cx="2651760" cy="2926080"/>
          </a:xfrm>
          <a:prstGeom prst="roundRect">
            <a:avLst>
              <a:gd name="adj" fmla="val 4000"/>
            </a:avLst>
          </a:prstGeom>
          <a:solidFill>
            <a:srgbClr val="12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49840" y="1554480"/>
            <a:ext cx="548640" cy="548640"/>
          </a:xfrm>
          <a:prstGeom prst="ellipse">
            <a:avLst/>
          </a:prstGeom>
          <a:solidFill>
            <a:srgbClr val="A57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15727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defRPr sz="22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1">
                <a:solidFill>
                  <a:srgbClr val="A57EDE"/>
                </a:solidFill>
                <a:latin typeface="Segoe UI Semibold"/>
              </a:defRPr>
            </a:pPr>
            <a:r>
              <a:t>COMPLETE &amp;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6974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200">
                <a:solidFill>
                  <a:srgbClr val="CCCCCC"/>
                </a:solidFill>
                <a:latin typeface="Segoe UI"/>
              </a:defRPr>
            </a:pPr>
            <a:r>
              <a:t>Provider completes session.</a:t>
            </a:r>
          </a:p>
          <a:p>
            <a:pPr algn="ctr">
              <a:lnSpc>
                <a:spcPts val="1800"/>
              </a:lnSpc>
              <a:defRPr sz="1200">
                <a:solidFill>
                  <a:srgbClr val="CCCCCC"/>
                </a:solidFill>
                <a:latin typeface="Segoe UI"/>
              </a:defRPr>
            </a:pPr>
            <a:r>
              <a:t>Escrow releases (95% pay,</a:t>
            </a:r>
          </a:p>
          <a:p>
            <a:pPr algn="ctr">
              <a:lnSpc>
                <a:spcPts val="1800"/>
              </a:lnSpc>
              <a:defRPr sz="1200">
                <a:solidFill>
                  <a:srgbClr val="CCCCCC"/>
                </a:solidFill>
                <a:latin typeface="Segoe UI"/>
              </a:defRPr>
            </a:pPr>
            <a:r>
              <a:t>5% burned). Leave rating.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800" b="0">
                <a:solidFill>
                  <a:srgbClr val="FFD70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800" b="0">
                <a:solidFill>
                  <a:srgbClr val="FFD70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800" b="0">
                <a:solidFill>
                  <a:srgbClr val="FFD70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663440"/>
            <a:ext cx="11064240" cy="1645920"/>
          </a:xfrm>
          <a:prstGeom prst="roundRect">
            <a:avLst>
              <a:gd name="adj" fmla="val 3000"/>
            </a:avLst>
          </a:prstGeom>
          <a:solidFill>
            <a:srgbClr val="18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800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FFD700"/>
                </a:solidFill>
                <a:latin typeface="Segoe UI Semibold"/>
              </a:defRPr>
            </a:pPr>
            <a:r>
              <a:t>KEY RESULTS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2ECCB5"/>
                </a:solidFill>
                <a:latin typeface="Segoe UI Semibold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69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200">
                <a:solidFill>
                  <a:srgbClr val="CCCCCC"/>
                </a:solidFill>
                <a:latin typeface="Segoe UI"/>
              </a:defRPr>
            </a:pPr>
            <a:r>
              <a:t>Skill Categories</a:t>
            </a:r>
          </a:p>
          <a:p>
            <a:pPr>
              <a:lnSpc>
                <a:spcPts val="1700"/>
              </a:lnSpc>
              <a:defRPr sz="1200">
                <a:solidFill>
                  <a:srgbClr val="CCCCCC"/>
                </a:solidFill>
                <a:latin typeface="Segoe UI"/>
              </a:defRPr>
            </a:pPr>
            <a:r>
              <a:t>across islands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2ECCB5"/>
                </a:solidFill>
                <a:latin typeface="Segoe UI Semibold"/>
              </a:defRPr>
            </a:pPr>
            <a:r>
              <a:t>Live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5669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200">
                <a:solidFill>
                  <a:srgbClr val="CCCCCC"/>
                </a:solidFill>
                <a:latin typeface="Segoe UI"/>
              </a:defRPr>
            </a:pPr>
            <a:r>
              <a:t>Price Engine</a:t>
            </a:r>
          </a:p>
          <a:p>
            <a:pPr>
              <a:lnSpc>
                <a:spcPts val="1700"/>
              </a:lnSpc>
              <a:defRPr sz="1200">
                <a:solidFill>
                  <a:srgbClr val="CCCCCC"/>
                </a:solidFill>
                <a:latin typeface="Segoe UI"/>
              </a:defRPr>
            </a:pPr>
            <a:r>
              <a:t>with log-smoothing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2ECCB5"/>
                </a:solidFill>
                <a:latin typeface="Segoe UI Semibold"/>
              </a:defRPr>
            </a:pPr>
            <a:r>
              <a:t>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669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200">
                <a:solidFill>
                  <a:srgbClr val="CCCCCC"/>
                </a:solidFill>
                <a:latin typeface="Segoe UI"/>
              </a:defRPr>
            </a:pPr>
            <a:r>
              <a:t>Escrow Coverage</a:t>
            </a:r>
          </a:p>
          <a:p>
            <a:pPr>
              <a:lnSpc>
                <a:spcPts val="1700"/>
              </a:lnSpc>
              <a:defRPr sz="1200">
                <a:solidFill>
                  <a:srgbClr val="CCCCCC"/>
                </a:solidFill>
                <a:latin typeface="Segoe UI"/>
              </a:defRPr>
            </a:pPr>
            <a:r>
              <a:t>on all bookings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2ECCB5"/>
                </a:solidFill>
                <a:latin typeface="Segoe UI Semibold"/>
              </a:defRPr>
            </a:pPr>
            <a:r>
              <a:t>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5669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200">
                <a:solidFill>
                  <a:srgbClr val="CCCCCC"/>
                </a:solidFill>
                <a:latin typeface="Segoe UI"/>
              </a:defRPr>
            </a:pPr>
            <a:r>
              <a:t>Token Burn Rate</a:t>
            </a:r>
          </a:p>
          <a:p>
            <a:pPr>
              <a:lnSpc>
                <a:spcPts val="1700"/>
              </a:lnSpc>
              <a:defRPr sz="1200">
                <a:solidFill>
                  <a:srgbClr val="CCCCCC"/>
                </a:solidFill>
                <a:latin typeface="Segoe UI"/>
              </a:defRPr>
            </a:pPr>
            <a:r>
              <a:t>for economy stability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defRPr sz="1100" b="0">
                <a:solidFill>
                  <a:srgbClr val="AAAAAA"/>
                </a:solidFill>
                <a:latin typeface="Segoe UI"/>
              </a:defRPr>
            </a:pPr>
            <a: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